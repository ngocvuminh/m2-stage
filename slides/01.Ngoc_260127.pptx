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AEF2AC-7BFF-44DF-A637-BA9F8DB2B650}" v="4" dt="2026-01-23T19:58:52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7" autoAdjust="0"/>
    <p:restoredTop sz="91370"/>
  </p:normalViewPr>
  <p:slideViewPr>
    <p:cSldViewPr snapToGrid="0">
      <p:cViewPr>
        <p:scale>
          <a:sx n="105" d="100"/>
          <a:sy n="105" d="100"/>
        </p:scale>
        <p:origin x="76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Minh Ngoc" userId="f8a571d7-7cae-47a1-8b1d-77a0503bed65" providerId="ADAL" clId="{43740E79-0930-482C-8E4A-44C463944430}"/>
    <pc:docChg chg="custSel addSld delSld modSld">
      <pc:chgData name="Vu Minh Ngoc" userId="f8a571d7-7cae-47a1-8b1d-77a0503bed65" providerId="ADAL" clId="{43740E79-0930-482C-8E4A-44C463944430}" dt="2026-01-23T20:02:30.027" v="217" actId="20577"/>
      <pc:docMkLst>
        <pc:docMk/>
      </pc:docMkLst>
      <pc:sldChg chg="addSp delSp modSp new mod">
        <pc:chgData name="Vu Minh Ngoc" userId="f8a571d7-7cae-47a1-8b1d-77a0503bed65" providerId="ADAL" clId="{43740E79-0930-482C-8E4A-44C463944430}" dt="2026-01-23T20:02:30.027" v="217" actId="20577"/>
        <pc:sldMkLst>
          <pc:docMk/>
          <pc:sldMk cId="414349899" sldId="257"/>
        </pc:sldMkLst>
        <pc:spChg chg="add mod">
          <ac:chgData name="Vu Minh Ngoc" userId="f8a571d7-7cae-47a1-8b1d-77a0503bed65" providerId="ADAL" clId="{43740E79-0930-482C-8E4A-44C463944430}" dt="2026-01-23T20:02:30.027" v="217" actId="20577"/>
          <ac:spMkLst>
            <pc:docMk/>
            <pc:sldMk cId="414349899" sldId="257"/>
            <ac:spMk id="6" creationId="{64672B5B-F9FE-58AB-C24F-A2537592B99F}"/>
          </ac:spMkLst>
        </pc:spChg>
        <pc:picChg chg="add del mod">
          <ac:chgData name="Vu Minh Ngoc" userId="f8a571d7-7cae-47a1-8b1d-77a0503bed65" providerId="ADAL" clId="{43740E79-0930-482C-8E4A-44C463944430}" dt="2026-01-23T19:57:51.166" v="12" actId="478"/>
          <ac:picMkLst>
            <pc:docMk/>
            <pc:sldMk cId="414349899" sldId="257"/>
            <ac:picMk id="3" creationId="{32D57FC5-1A2B-BC11-75BD-814CE76D7B88}"/>
          </ac:picMkLst>
        </pc:picChg>
        <pc:picChg chg="add mod">
          <ac:chgData name="Vu Minh Ngoc" userId="f8a571d7-7cae-47a1-8b1d-77a0503bed65" providerId="ADAL" clId="{43740E79-0930-482C-8E4A-44C463944430}" dt="2026-01-23T19:58:32.510" v="18" actId="1076"/>
          <ac:picMkLst>
            <pc:docMk/>
            <pc:sldMk cId="414349899" sldId="257"/>
            <ac:picMk id="5" creationId="{45D9BACC-7E74-E5E0-05ED-0C310CDC8910}"/>
          </ac:picMkLst>
        </pc:picChg>
      </pc:sldChg>
      <pc:sldChg chg="new del">
        <pc:chgData name="Vu Minh Ngoc" userId="f8a571d7-7cae-47a1-8b1d-77a0503bed65" providerId="ADAL" clId="{43740E79-0930-482C-8E4A-44C463944430}" dt="2026-01-23T19:56:27.467" v="1" actId="47"/>
        <pc:sldMkLst>
          <pc:docMk/>
          <pc:sldMk cId="1527994649" sldId="257"/>
        </pc:sldMkLst>
      </pc:sldChg>
      <pc:sldChg chg="new">
        <pc:chgData name="Vu Minh Ngoc" userId="f8a571d7-7cae-47a1-8b1d-77a0503bed65" providerId="ADAL" clId="{43740E79-0930-482C-8E4A-44C463944430}" dt="2026-01-23T19:56:34.446" v="3" actId="680"/>
        <pc:sldMkLst>
          <pc:docMk/>
          <pc:sldMk cId="3857126564" sldId="258"/>
        </pc:sldMkLst>
      </pc:sldChg>
      <pc:sldChg chg="new">
        <pc:chgData name="Vu Minh Ngoc" userId="f8a571d7-7cae-47a1-8b1d-77a0503bed65" providerId="ADAL" clId="{43740E79-0930-482C-8E4A-44C463944430}" dt="2026-01-23T19:56:34.654" v="4" actId="680"/>
        <pc:sldMkLst>
          <pc:docMk/>
          <pc:sldMk cId="3556616465" sldId="259"/>
        </pc:sldMkLst>
      </pc:sldChg>
      <pc:sldChg chg="new">
        <pc:chgData name="Vu Minh Ngoc" userId="f8a571d7-7cae-47a1-8b1d-77a0503bed65" providerId="ADAL" clId="{43740E79-0930-482C-8E4A-44C463944430}" dt="2026-01-23T19:56:34.802" v="5" actId="680"/>
        <pc:sldMkLst>
          <pc:docMk/>
          <pc:sldMk cId="1992251771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A67CE-EF97-544F-B768-346902557B9A}" type="datetimeFigureOut">
              <a:rPr lang="en-FR" smtClean="0"/>
              <a:t>26/01/2026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22C1E-E80F-A640-B315-198965FACDF5}" type="slidenum">
              <a:rPr lang="en-FR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82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Contains bulk RNA-</a:t>
            </a:r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seq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datasets from different brain regions at different stages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Vision? Establish a benchmark for future analyses, e.g. cerebellum organoids 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22C1E-E80F-A640-B315-198965FACDF5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28547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err="1"/>
              <a:t>Metadata</a:t>
            </a:r>
            <a:r>
              <a:rPr lang="fr-FR" sz="1200" dirty="0"/>
              <a:t> </a:t>
            </a:r>
            <a:r>
              <a:rPr lang="fr-FR" sz="1200" dirty="0" err="1"/>
              <a:t>consistency</a:t>
            </a:r>
            <a:r>
              <a:rPr lang="fr-FR" sz="1200" dirty="0"/>
              <a:t> check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22C1E-E80F-A640-B315-198965FACDF5}" type="slidenum">
              <a:rPr lang="en-FR" smtClean="0"/>
              <a:t>2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221930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This </a:t>
            </a:r>
            <a:r>
              <a:rPr lang="fr-FR" sz="1200" dirty="0" err="1"/>
              <a:t>still</a:t>
            </a:r>
            <a:r>
              <a:rPr lang="fr-FR" sz="1200" dirty="0"/>
              <a:t> </a:t>
            </a:r>
            <a:r>
              <a:rPr lang="fr-FR" sz="1200" dirty="0" err="1"/>
              <a:t>contains</a:t>
            </a:r>
            <a:r>
              <a:rPr lang="fr-FR" sz="1200" dirty="0"/>
              <a:t> 15 </a:t>
            </a:r>
            <a:r>
              <a:rPr lang="fr-FR" sz="1200" dirty="0" err="1"/>
              <a:t>samples</a:t>
            </a:r>
            <a:r>
              <a:rPr lang="fr-FR" sz="1200" dirty="0"/>
              <a:t> </a:t>
            </a:r>
            <a:r>
              <a:rPr lang="fr-FR" sz="1200" dirty="0" err="1"/>
              <a:t>sequenced</a:t>
            </a:r>
            <a:r>
              <a:rPr lang="fr-FR" sz="1200" dirty="0"/>
              <a:t> in 2 </a:t>
            </a:r>
            <a:r>
              <a:rPr lang="fr-FR" sz="1200" dirty="0" err="1"/>
              <a:t>batches</a:t>
            </a:r>
            <a:endParaRPr lang="fr-FR" sz="1200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22C1E-E80F-A640-B315-198965FACDF5}" type="slidenum">
              <a:rPr lang="en-FR" smtClean="0"/>
              <a:t>3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68898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7BBA-654E-4D0A-30D3-D45B741D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BBCD2-0AB8-4D2E-7D4E-879B951F0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DDA22-AD6D-5846-CB87-9EA80FD34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AE2CD-18EE-6374-D8A6-21F340F98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22C1E-E80F-A640-B315-198965FACDF5}" type="slidenum">
              <a:rPr lang="en-FR" smtClean="0"/>
              <a:t>5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70289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F59C-F62D-92E6-2480-F5A4E3818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24C1D-3DA1-AFC3-8F1A-9BAD33620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2D9E-1296-A0EA-9466-AB5BCFD5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6F89C-CAE8-0EC0-4E79-C2BC4018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5B54-8404-6A17-4EC6-92D084F7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04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5663-5930-DE2C-C45E-B8F0A4578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743C3-618B-17D2-5E7D-38282ACEF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04057-E49D-2AAE-8218-CDB05FC1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CFCFB-8615-7DBA-41AF-1802A9DC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758DE-F350-BFBF-46C5-701DCE034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117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B93E5-5846-6FFE-CBCD-6CBCC43E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0C97A-4315-C6A7-5408-00EB8F942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E8A24-EA7A-92DF-FEC0-7C92A59F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146A8-A564-2A4B-45E7-80DBDE71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D1B9-5B67-96F0-B233-2924D44D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295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E07C-34D3-0243-8BC0-A4164C8A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B984-90B8-24FC-150B-0FE7BB5D2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C5068-AD6F-F547-69A8-BB8621137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0941D-4162-3CA4-D008-AEA6D3E4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1ABFF-3554-7650-F122-F1260BC3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F0ABC-0025-B02E-60D8-5553B2FE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407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4B02-74B4-15D0-482E-769E4EE11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E8942-1BF7-A8A0-0B8B-45E76117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AAFAA-7B16-31CF-FEC4-90EB2EADD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ED096-6F0B-78E3-BA5A-8D23EA386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9670B-6E4E-8598-1A2C-1401E2CB7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D1E44-C192-4F62-2B02-B9F95054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B61511-6486-5E71-6E6D-C67DC95B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F16FD-CFA1-BEEB-99D6-5F99AABA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05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ED55-FE7B-2E0E-C90B-DB84E07D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3D9EC-6B69-18C6-D833-D5E0CE8C7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06CDA-4B32-348A-F753-502697EEB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2471-7C6A-8446-2F02-C5B2DEF4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54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229D7-BE30-2E77-BBA4-F4F370D4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CD8E0-5B88-C200-833A-349CBE6B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A4741-5BF0-AC98-179E-5AEF0EDA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90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04F4-95A8-92AE-5E1D-0DB4BD79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4AD1A-804E-7825-2733-C23476E9C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2DEDD-8660-9891-9DA0-081BE963A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5399A-DD94-48F8-B7C1-172DC18B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38E42-0B64-3177-BDE9-7AE6DCB2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F324-521D-32A9-A1C8-D8028D83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27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B119-D229-08EA-1408-75DE4988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1A494-6AA1-F74E-5B19-6F83C798A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BBD7D-27A3-7A21-906B-5559E0E9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5366A-B0C9-FA0B-05D7-C4D84F9D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B0134-6DC7-7814-4BAD-B6BD230F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CFD3B-2525-6BD6-6BED-99EC0C28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174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D8D2-54C6-7247-DD60-0BA817F5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2F458D-C9DB-448A-2E42-993354161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12F2E-650D-203F-996E-F76045AB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18535-AF97-A06B-EA82-902F37F7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BAD94-3FCC-D046-8FFE-7AFC7824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4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7CAC4-4590-A890-2FD2-2EAB6A8B6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89556-6D68-7803-E61A-26BCF95DC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E6BE1-AE86-93DF-917E-76F75797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A0F8F-AD5F-C7C9-158D-CECDEADC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8ED3-FBE3-41AD-96D0-31869E9D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1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3B85B-F3A1-4378-79C9-B2EAE7129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300CE-CFB5-0E32-33A8-066DBE756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B8F26-87B9-5B8C-1B33-42BCC7686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8526C-0920-404B-AA75-512C336BB7DF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A9072-D00B-44E2-559E-A5B7415B9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7C946-1F3F-3DBA-5369-55C19A23A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8FFDC-340F-48A2-830F-5B27E06E267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82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BAAB2-F145-88FF-A933-99AE31DAC32C}"/>
              </a:ext>
            </a:extLst>
          </p:cNvPr>
          <p:cNvSpPr txBox="1"/>
          <p:nvPr/>
        </p:nvSpPr>
        <p:spPr>
          <a:xfrm>
            <a:off x="2326378" y="1001795"/>
            <a:ext cx="75392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b="1" dirty="0">
                <a:solidFill>
                  <a:srgbClr val="C00000"/>
                </a:solidFill>
              </a:rPr>
              <a:t>Analyses of the HDBR </a:t>
            </a:r>
            <a:r>
              <a:rPr lang="fr-FR" sz="4000" b="1" dirty="0" err="1">
                <a:solidFill>
                  <a:srgbClr val="C00000"/>
                </a:solidFill>
              </a:rPr>
              <a:t>dataset</a:t>
            </a:r>
            <a:endParaRPr lang="fr-FR" sz="40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BFE7F-8A7E-4D8F-B9FC-F563B0B6BB10}"/>
              </a:ext>
            </a:extLst>
          </p:cNvPr>
          <p:cNvSpPr txBox="1"/>
          <p:nvPr/>
        </p:nvSpPr>
        <p:spPr>
          <a:xfrm>
            <a:off x="5362464" y="1887556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Ngoc VU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742DE-B7EF-8578-12C8-0DC08F55824C}"/>
              </a:ext>
            </a:extLst>
          </p:cNvPr>
          <p:cNvSpPr txBox="1"/>
          <p:nvPr/>
        </p:nvSpPr>
        <p:spPr>
          <a:xfrm>
            <a:off x="5138846" y="2320098"/>
            <a:ext cx="1914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27 Jan 2026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5430E06-A441-C3EB-17CD-2F5611858B4A}"/>
              </a:ext>
            </a:extLst>
          </p:cNvPr>
          <p:cNvGrpSpPr/>
          <p:nvPr/>
        </p:nvGrpSpPr>
        <p:grpSpPr>
          <a:xfrm>
            <a:off x="2209798" y="3095920"/>
            <a:ext cx="7772400" cy="2760285"/>
            <a:chOff x="3124912" y="1780243"/>
            <a:chExt cx="7772400" cy="2760285"/>
          </a:xfrm>
        </p:grpSpPr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0E0CF8D-89C8-E449-732F-AC3B936BB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118"/>
            <a:stretch>
              <a:fillRect/>
            </a:stretch>
          </p:blipFill>
          <p:spPr>
            <a:xfrm>
              <a:off x="3124912" y="1780243"/>
              <a:ext cx="7772400" cy="6581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34750B25-5D31-D717-65B8-5EAA8AA83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57"/>
            <a:stretch>
              <a:fillRect/>
            </a:stretch>
          </p:blipFill>
          <p:spPr>
            <a:xfrm>
              <a:off x="3124912" y="2390660"/>
              <a:ext cx="7772400" cy="21498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954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D1103-3D67-E88E-6CF3-AE54CBD35A8D}"/>
              </a:ext>
            </a:extLst>
          </p:cNvPr>
          <p:cNvSpPr txBox="1"/>
          <p:nvPr/>
        </p:nvSpPr>
        <p:spPr>
          <a:xfrm>
            <a:off x="430566" y="426763"/>
            <a:ext cx="3233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Metadata</a:t>
            </a:r>
            <a:r>
              <a:rPr lang="fr-FR" sz="3200" b="1" dirty="0"/>
              <a:t>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20D06-F8A3-D250-A2D0-A74865EE0DB2}"/>
              </a:ext>
            </a:extLst>
          </p:cNvPr>
          <p:cNvSpPr txBox="1"/>
          <p:nvPr/>
        </p:nvSpPr>
        <p:spPr>
          <a:xfrm>
            <a:off x="430566" y="1358750"/>
            <a:ext cx="11027079" cy="1553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200" dirty="0" err="1"/>
              <a:t>Two</a:t>
            </a:r>
            <a:r>
              <a:rPr lang="fr-FR" sz="2200" dirty="0"/>
              <a:t> sources of </a:t>
            </a:r>
            <a:r>
              <a:rPr lang="fr-FR" sz="2200" dirty="0" err="1"/>
              <a:t>metadata</a:t>
            </a:r>
            <a:r>
              <a:rPr lang="fr-FR" sz="2200" dirty="0"/>
              <a:t>: HDBR </a:t>
            </a:r>
            <a:r>
              <a:rPr lang="fr-FR" sz="2200" dirty="0" err="1"/>
              <a:t>website</a:t>
            </a:r>
            <a:r>
              <a:rPr lang="fr-FR" sz="2200" dirty="0"/>
              <a:t> &amp; EBI</a:t>
            </a:r>
          </a:p>
          <a:p>
            <a:pPr>
              <a:lnSpc>
                <a:spcPct val="150000"/>
              </a:lnSpc>
            </a:pPr>
            <a:r>
              <a:rPr lang="fr-FR" sz="2200" dirty="0"/>
              <a:t>	- EBI </a:t>
            </a:r>
            <a:r>
              <a:rPr lang="fr-FR" sz="2200" dirty="0" err="1"/>
              <a:t>seems</a:t>
            </a:r>
            <a:r>
              <a:rPr lang="fr-FR" sz="2200" dirty="0"/>
              <a:t> to </a:t>
            </a:r>
            <a:r>
              <a:rPr lang="fr-FR" sz="2200" dirty="0" err="1"/>
              <a:t>be</a:t>
            </a:r>
            <a:r>
              <a:rPr lang="fr-FR" sz="2200" dirty="0"/>
              <a:t> more </a:t>
            </a:r>
            <a:r>
              <a:rPr lang="fr-FR" sz="2200" dirty="0" err="1"/>
              <a:t>updated</a:t>
            </a:r>
            <a:r>
              <a:rPr lang="fr-FR" sz="2200" dirty="0"/>
              <a:t>: 3 </a:t>
            </a:r>
            <a:r>
              <a:rPr lang="fr-FR" sz="2200" dirty="0" err="1"/>
              <a:t>individuals</a:t>
            </a:r>
            <a:r>
              <a:rPr lang="fr-FR" sz="2200" dirty="0"/>
              <a:t> more</a:t>
            </a:r>
          </a:p>
          <a:p>
            <a:pPr>
              <a:lnSpc>
                <a:spcPct val="150000"/>
              </a:lnSpc>
            </a:pPr>
            <a:r>
              <a:rPr lang="fr-FR" sz="2200" dirty="0"/>
              <a:t>	- 17 </a:t>
            </a:r>
            <a:r>
              <a:rPr lang="fr-FR" sz="2200" dirty="0" err="1"/>
              <a:t>samples</a:t>
            </a:r>
            <a:r>
              <a:rPr lang="fr-FR" sz="2200" dirty="0"/>
              <a:t> are </a:t>
            </a:r>
            <a:r>
              <a:rPr lang="fr-FR" sz="2200" dirty="0" err="1"/>
              <a:t>sequenced</a:t>
            </a:r>
            <a:r>
              <a:rPr lang="fr-FR" sz="2200" dirty="0"/>
              <a:t> in 2 </a:t>
            </a:r>
            <a:r>
              <a:rPr lang="fr-FR" sz="2200" dirty="0" err="1"/>
              <a:t>different</a:t>
            </a:r>
            <a:r>
              <a:rPr lang="fr-FR" sz="2200" dirty="0"/>
              <a:t> </a:t>
            </a:r>
            <a:r>
              <a:rPr lang="fr-FR" sz="2200" dirty="0" err="1"/>
              <a:t>batches</a:t>
            </a:r>
            <a:r>
              <a:rPr lang="fr-FR" sz="2200" dirty="0"/>
              <a:t> </a:t>
            </a:r>
            <a:r>
              <a:rPr lang="fr-FR" sz="2200" dirty="0">
                <a:sym typeface="Wingdings" pitchFamily="2" charset="2"/>
              </a:rPr>
              <a:t> 34 </a:t>
            </a:r>
            <a:r>
              <a:rPr lang="fr-FR" sz="2200" dirty="0" err="1">
                <a:sym typeface="Wingdings" pitchFamily="2" charset="2"/>
              </a:rPr>
              <a:t>samples</a:t>
            </a:r>
            <a:r>
              <a:rPr lang="fr-FR" sz="2200" dirty="0">
                <a:sym typeface="Wingdings" pitchFamily="2" charset="2"/>
              </a:rPr>
              <a:t>?</a:t>
            </a:r>
            <a:endParaRPr lang="fr-FR" sz="2200" dirty="0"/>
          </a:p>
        </p:txBody>
      </p:sp>
    </p:spTree>
    <p:extLst>
      <p:ext uri="{BB962C8B-B14F-4D97-AF65-F5344CB8AC3E}">
        <p14:creationId xmlns:p14="http://schemas.microsoft.com/office/powerpoint/2010/main" val="385712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672B5B-F9FE-58AB-C24F-A2537592B99F}"/>
              </a:ext>
            </a:extLst>
          </p:cNvPr>
          <p:cNvSpPr txBox="1"/>
          <p:nvPr/>
        </p:nvSpPr>
        <p:spPr>
          <a:xfrm>
            <a:off x="430566" y="3524214"/>
            <a:ext cx="114104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err="1"/>
              <a:t>Developmental</a:t>
            </a:r>
            <a:r>
              <a:rPr lang="fr-FR" sz="2200" dirty="0"/>
              <a:t> stage and tissue distribution of </a:t>
            </a:r>
            <a:r>
              <a:rPr lang="fr-FR" sz="2200" dirty="0" err="1"/>
              <a:t>brain</a:t>
            </a:r>
            <a:r>
              <a:rPr lang="fr-FR" sz="2200" dirty="0"/>
              <a:t> </a:t>
            </a:r>
            <a:r>
              <a:rPr lang="fr-FR" sz="2200" dirty="0" err="1"/>
              <a:t>samples</a:t>
            </a:r>
            <a:r>
              <a:rPr lang="fr-FR" sz="2200" dirty="0"/>
              <a:t> </a:t>
            </a:r>
            <a:r>
              <a:rPr lang="fr-FR" sz="2200" dirty="0" err="1"/>
              <a:t>after</a:t>
            </a:r>
            <a:r>
              <a:rPr lang="fr-FR" sz="2200" dirty="0"/>
              <a:t> </a:t>
            </a:r>
            <a:r>
              <a:rPr lang="fr-FR" sz="2200" dirty="0" err="1"/>
              <a:t>filtering</a:t>
            </a:r>
            <a:r>
              <a:rPr lang="fr-FR" sz="2200" dirty="0"/>
              <a:t> (84 </a:t>
            </a:r>
            <a:r>
              <a:rPr lang="fr-FR" sz="2200" dirty="0" err="1"/>
              <a:t>individuals</a:t>
            </a:r>
            <a:r>
              <a:rPr lang="fr-FR" sz="2200" dirty="0"/>
              <a:t>)</a:t>
            </a:r>
          </a:p>
        </p:txBody>
      </p:sp>
      <p:pic>
        <p:nvPicPr>
          <p:cNvPr id="9" name="Picture 8" descr="A number in a square&#10;&#10;AI-generated content may be incorrect.">
            <a:extLst>
              <a:ext uri="{FF2B5EF4-FFF2-40B4-BE49-F238E27FC236}">
                <a16:creationId xmlns:a16="http://schemas.microsoft.com/office/drawing/2014/main" id="{99512C3A-DAD1-9D67-B7EE-CAFA20918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66" y="3955101"/>
            <a:ext cx="11582928" cy="18361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19111A-EF0B-B964-2B76-5C2989C82018}"/>
              </a:ext>
            </a:extLst>
          </p:cNvPr>
          <p:cNvSpPr txBox="1"/>
          <p:nvPr/>
        </p:nvSpPr>
        <p:spPr>
          <a:xfrm>
            <a:off x="430566" y="1346558"/>
            <a:ext cx="1102707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err="1"/>
              <a:t>Filtering</a:t>
            </a:r>
            <a:r>
              <a:rPr lang="fr-FR" sz="2200" dirty="0"/>
              <a:t> </a:t>
            </a:r>
            <a:r>
              <a:rPr lang="fr-FR" sz="2200" dirty="0" err="1"/>
              <a:t>criteria</a:t>
            </a:r>
            <a:r>
              <a:rPr lang="fr-FR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 err="1"/>
              <a:t>brain</a:t>
            </a:r>
            <a:r>
              <a:rPr lang="fr-FR" sz="2200" dirty="0"/>
              <a:t> fragments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/>
              <a:t>mixed </a:t>
            </a:r>
            <a:r>
              <a:rPr lang="fr-FR" sz="2200" dirty="0" err="1"/>
              <a:t>samples</a:t>
            </a:r>
            <a:r>
              <a:rPr lang="fr-FR" sz="2200" dirty="0"/>
              <a:t> (</a:t>
            </a:r>
            <a:r>
              <a:rPr lang="fr-FR" sz="2200" dirty="0" err="1"/>
              <a:t>diencephalon</a:t>
            </a:r>
            <a:r>
              <a:rPr lang="fr-FR" sz="2200" dirty="0"/>
              <a:t> and </a:t>
            </a:r>
            <a:r>
              <a:rPr lang="fr-FR" sz="2200" dirty="0" err="1"/>
              <a:t>midbrain</a:t>
            </a:r>
            <a:r>
              <a:rPr lang="fr-FR" sz="2200" dirty="0"/>
              <a:t>, </a:t>
            </a:r>
            <a:r>
              <a:rPr lang="fr-FR" sz="2200" dirty="0" err="1"/>
              <a:t>diencephalon</a:t>
            </a:r>
            <a:r>
              <a:rPr lang="fr-FR" sz="2200" dirty="0"/>
              <a:t> and </a:t>
            </a:r>
            <a:r>
              <a:rPr lang="fr-FR" sz="2200" dirty="0" err="1"/>
              <a:t>pituitary</a:t>
            </a:r>
            <a:r>
              <a:rPr lang="fr-FR" sz="2200" dirty="0"/>
              <a:t>, </a:t>
            </a:r>
            <a:r>
              <a:rPr lang="fr-FR" sz="2200" dirty="0" err="1"/>
              <a:t>forebrain</a:t>
            </a:r>
            <a:r>
              <a:rPr lang="fr-FR" sz="2200" dirty="0"/>
              <a:t> and </a:t>
            </a:r>
            <a:r>
              <a:rPr lang="fr-FR" sz="2200" dirty="0" err="1"/>
              <a:t>midbrain</a:t>
            </a:r>
            <a:r>
              <a:rPr lang="fr-FR" sz="2200" dirty="0"/>
              <a:t>, </a:t>
            </a:r>
            <a:r>
              <a:rPr lang="fr-FR" sz="2200" dirty="0" err="1"/>
              <a:t>whole</a:t>
            </a:r>
            <a:r>
              <a:rPr lang="fr-FR" sz="2200" dirty="0"/>
              <a:t> </a:t>
            </a:r>
            <a:r>
              <a:rPr lang="fr-FR" sz="2200" dirty="0" err="1"/>
              <a:t>hindbrain</a:t>
            </a:r>
            <a:r>
              <a:rPr lang="fr-FR" sz="2200" dirty="0"/>
              <a:t> </a:t>
            </a:r>
            <a:r>
              <a:rPr lang="fr-FR" sz="2200" dirty="0" err="1"/>
              <a:t>without</a:t>
            </a:r>
            <a:r>
              <a:rPr lang="fr-FR" sz="2200" dirty="0"/>
              <a:t> </a:t>
            </a:r>
            <a:r>
              <a:rPr lang="fr-FR" sz="2200" dirty="0" err="1"/>
              <a:t>cerebellum</a:t>
            </a:r>
            <a:r>
              <a:rPr lang="fr-FR" sz="2200" dirty="0"/>
              <a:t>)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7FF1184B-0A58-F1E2-E611-5A7DF6526CD2}"/>
              </a:ext>
            </a:extLst>
          </p:cNvPr>
          <p:cNvSpPr/>
          <p:nvPr/>
        </p:nvSpPr>
        <p:spPr>
          <a:xfrm>
            <a:off x="1630740" y="2983813"/>
            <a:ext cx="279084" cy="349696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269A0-1F0A-CDDA-4479-F1C6EAEBCFDD}"/>
              </a:ext>
            </a:extLst>
          </p:cNvPr>
          <p:cNvSpPr txBox="1"/>
          <p:nvPr/>
        </p:nvSpPr>
        <p:spPr>
          <a:xfrm>
            <a:off x="430566" y="426763"/>
            <a:ext cx="3531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Sample</a:t>
            </a:r>
            <a:r>
              <a:rPr lang="fr-FR" sz="3200" b="1" dirty="0"/>
              <a:t> </a:t>
            </a:r>
            <a:r>
              <a:rPr lang="fr-FR" sz="3200" b="1" dirty="0" err="1"/>
              <a:t>selection</a:t>
            </a:r>
            <a:endParaRPr lang="fr-FR" sz="3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0201C2-C4CA-7F9A-9880-C32A1126F563}"/>
              </a:ext>
            </a:extLst>
          </p:cNvPr>
          <p:cNvSpPr txBox="1"/>
          <p:nvPr/>
        </p:nvSpPr>
        <p:spPr>
          <a:xfrm>
            <a:off x="6096000" y="648866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GB" i="1" dirty="0">
                <a:solidFill>
                  <a:srgbClr val="14141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*samples where the precise region is unknown</a:t>
            </a:r>
          </a:p>
        </p:txBody>
      </p:sp>
    </p:spTree>
    <p:extLst>
      <p:ext uri="{BB962C8B-B14F-4D97-AF65-F5344CB8AC3E}">
        <p14:creationId xmlns:p14="http://schemas.microsoft.com/office/powerpoint/2010/main" val="41434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A3CD96-6765-2668-A5F1-B750ED80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75"/>
          <a:stretch>
            <a:fillRect/>
          </a:stretch>
        </p:blipFill>
        <p:spPr>
          <a:xfrm>
            <a:off x="8768433" y="1862937"/>
            <a:ext cx="3190321" cy="3134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24E445-2B32-72CF-451A-3D98D7216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483" y="1862937"/>
            <a:ext cx="3800950" cy="31344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C1D124-740D-8763-8A52-D9A895B0B8E3}"/>
              </a:ext>
            </a:extLst>
          </p:cNvPr>
          <p:cNvSpPr txBox="1"/>
          <p:nvPr/>
        </p:nvSpPr>
        <p:spPr>
          <a:xfrm>
            <a:off x="430566" y="426763"/>
            <a:ext cx="3531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Sample</a:t>
            </a:r>
            <a:r>
              <a:rPr lang="fr-FR" sz="3200" b="1" dirty="0"/>
              <a:t> </a:t>
            </a:r>
            <a:r>
              <a:rPr lang="fr-FR" sz="3200" b="1" dirty="0" err="1"/>
              <a:t>selection</a:t>
            </a:r>
            <a:endParaRPr lang="fr-FR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798F2-FA45-8797-C5A6-7732C5078D8D}"/>
              </a:ext>
            </a:extLst>
          </p:cNvPr>
          <p:cNvSpPr txBox="1"/>
          <p:nvPr/>
        </p:nvSpPr>
        <p:spPr>
          <a:xfrm>
            <a:off x="430566" y="1862937"/>
            <a:ext cx="41780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dirty="0"/>
              <a:t>84 </a:t>
            </a:r>
            <a:r>
              <a:rPr lang="fr-FR" sz="2000" dirty="0" err="1"/>
              <a:t>individuals</a:t>
            </a:r>
            <a:r>
              <a:rPr lang="fr-FR" sz="2000" dirty="0"/>
              <a:t> (65 </a:t>
            </a:r>
            <a:r>
              <a:rPr lang="fr-FR" sz="2000" dirty="0" err="1"/>
              <a:t>contributed</a:t>
            </a:r>
            <a:r>
              <a:rPr lang="fr-FR" sz="2000" dirty="0"/>
              <a:t> more </a:t>
            </a:r>
            <a:r>
              <a:rPr lang="fr-FR" sz="2000" dirty="0" err="1"/>
              <a:t>than</a:t>
            </a:r>
            <a:r>
              <a:rPr lang="fr-FR" sz="2000" dirty="0"/>
              <a:t> 1 </a:t>
            </a:r>
            <a:r>
              <a:rPr lang="fr-FR" sz="2000" dirty="0" err="1"/>
              <a:t>sample</a:t>
            </a:r>
            <a:r>
              <a:rPr lang="fr-FR" sz="2000" dirty="0"/>
              <a:t>, </a:t>
            </a:r>
            <a:r>
              <a:rPr lang="en-GB" sz="2000" dirty="0"/>
              <a:t>most commonly from the cerebral cortex)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99225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E6BDA-E028-935E-B2D5-2EE679965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D997A1-2254-20D2-CE99-60B2E1E56D33}"/>
              </a:ext>
            </a:extLst>
          </p:cNvPr>
          <p:cNvSpPr txBox="1"/>
          <p:nvPr/>
        </p:nvSpPr>
        <p:spPr>
          <a:xfrm>
            <a:off x="430566" y="1223790"/>
            <a:ext cx="5170005" cy="3347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/>
              <a:t>Metadata</a:t>
            </a:r>
            <a:r>
              <a:rPr lang="fr-FR" sz="2400" dirty="0"/>
              <a:t> check, </a:t>
            </a:r>
            <a:r>
              <a:rPr lang="fr-FR" sz="2400" dirty="0" err="1"/>
              <a:t>sample</a:t>
            </a:r>
            <a:r>
              <a:rPr lang="fr-FR" sz="2400" dirty="0"/>
              <a:t> </a:t>
            </a:r>
            <a:r>
              <a:rPr lang="fr-FR" sz="2400" dirty="0" err="1"/>
              <a:t>selection</a:t>
            </a:r>
            <a:endParaRPr lang="fr-FR" sz="2400" dirty="0"/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Check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duplicated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batches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Quality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control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PCA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Deconvolution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DGE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analysis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DB93DA-9D9C-4382-EA58-6576EC39517F}"/>
              </a:ext>
            </a:extLst>
          </p:cNvPr>
          <p:cNvSpPr txBox="1"/>
          <p:nvPr/>
        </p:nvSpPr>
        <p:spPr>
          <a:xfrm>
            <a:off x="430566" y="426763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Next </a:t>
            </a:r>
            <a:r>
              <a:rPr lang="fr-FR" sz="3200" b="1" dirty="0" err="1"/>
              <a:t>steps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86300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7B05539C-CB24-0988-7314-35C0396D1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" y="1053348"/>
            <a:ext cx="12178851" cy="47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1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177</Words>
  <Application>Microsoft Macintosh PowerPoint</Application>
  <PresentationFormat>Widescreen</PresentationFormat>
  <Paragraphs>31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Minh Ngoc</dc:creator>
  <cp:lastModifiedBy>Ngoc Vu</cp:lastModifiedBy>
  <cp:revision>117</cp:revision>
  <dcterms:created xsi:type="dcterms:W3CDTF">2026-01-23T19:55:02Z</dcterms:created>
  <dcterms:modified xsi:type="dcterms:W3CDTF">2026-01-27T00:44:24Z</dcterms:modified>
</cp:coreProperties>
</file>