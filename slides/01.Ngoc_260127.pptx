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6" r:id="rId2"/>
    <p:sldId id="258" r:id="rId3"/>
    <p:sldId id="257" r:id="rId4"/>
    <p:sldId id="260" r:id="rId5"/>
    <p:sldId id="261" r:id="rId6"/>
    <p:sldId id="262" r:id="rId7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5AEF2AC-7BFF-44DF-A637-BA9F8DB2B650}" v="4" dt="2026-01-23T19:58:52.31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157" autoAdjust="0"/>
    <p:restoredTop sz="91370"/>
  </p:normalViewPr>
  <p:slideViewPr>
    <p:cSldViewPr snapToGrid="0">
      <p:cViewPr>
        <p:scale>
          <a:sx n="105" d="100"/>
          <a:sy n="105" d="100"/>
        </p:scale>
        <p:origin x="768" y="3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u Minh Ngoc" userId="f8a571d7-7cae-47a1-8b1d-77a0503bed65" providerId="ADAL" clId="{43740E79-0930-482C-8E4A-44C463944430}"/>
    <pc:docChg chg="custSel addSld delSld modSld">
      <pc:chgData name="Vu Minh Ngoc" userId="f8a571d7-7cae-47a1-8b1d-77a0503bed65" providerId="ADAL" clId="{43740E79-0930-482C-8E4A-44C463944430}" dt="2026-01-23T20:02:30.027" v="217" actId="20577"/>
      <pc:docMkLst>
        <pc:docMk/>
      </pc:docMkLst>
      <pc:sldChg chg="addSp delSp modSp new mod">
        <pc:chgData name="Vu Minh Ngoc" userId="f8a571d7-7cae-47a1-8b1d-77a0503bed65" providerId="ADAL" clId="{43740E79-0930-482C-8E4A-44C463944430}" dt="2026-01-23T20:02:30.027" v="217" actId="20577"/>
        <pc:sldMkLst>
          <pc:docMk/>
          <pc:sldMk cId="414349899" sldId="257"/>
        </pc:sldMkLst>
        <pc:spChg chg="add mod">
          <ac:chgData name="Vu Minh Ngoc" userId="f8a571d7-7cae-47a1-8b1d-77a0503bed65" providerId="ADAL" clId="{43740E79-0930-482C-8E4A-44C463944430}" dt="2026-01-23T20:02:30.027" v="217" actId="20577"/>
          <ac:spMkLst>
            <pc:docMk/>
            <pc:sldMk cId="414349899" sldId="257"/>
            <ac:spMk id="6" creationId="{64672B5B-F9FE-58AB-C24F-A2537592B99F}"/>
          </ac:spMkLst>
        </pc:spChg>
        <pc:picChg chg="add del mod">
          <ac:chgData name="Vu Minh Ngoc" userId="f8a571d7-7cae-47a1-8b1d-77a0503bed65" providerId="ADAL" clId="{43740E79-0930-482C-8E4A-44C463944430}" dt="2026-01-23T19:57:51.166" v="12" actId="478"/>
          <ac:picMkLst>
            <pc:docMk/>
            <pc:sldMk cId="414349899" sldId="257"/>
            <ac:picMk id="3" creationId="{32D57FC5-1A2B-BC11-75BD-814CE76D7B88}"/>
          </ac:picMkLst>
        </pc:picChg>
        <pc:picChg chg="add mod">
          <ac:chgData name="Vu Minh Ngoc" userId="f8a571d7-7cae-47a1-8b1d-77a0503bed65" providerId="ADAL" clId="{43740E79-0930-482C-8E4A-44C463944430}" dt="2026-01-23T19:58:32.510" v="18" actId="1076"/>
          <ac:picMkLst>
            <pc:docMk/>
            <pc:sldMk cId="414349899" sldId="257"/>
            <ac:picMk id="5" creationId="{45D9BACC-7E74-E5E0-05ED-0C310CDC8910}"/>
          </ac:picMkLst>
        </pc:picChg>
      </pc:sldChg>
      <pc:sldChg chg="new del">
        <pc:chgData name="Vu Minh Ngoc" userId="f8a571d7-7cae-47a1-8b1d-77a0503bed65" providerId="ADAL" clId="{43740E79-0930-482C-8E4A-44C463944430}" dt="2026-01-23T19:56:27.467" v="1" actId="47"/>
        <pc:sldMkLst>
          <pc:docMk/>
          <pc:sldMk cId="1527994649" sldId="257"/>
        </pc:sldMkLst>
      </pc:sldChg>
      <pc:sldChg chg="new">
        <pc:chgData name="Vu Minh Ngoc" userId="f8a571d7-7cae-47a1-8b1d-77a0503bed65" providerId="ADAL" clId="{43740E79-0930-482C-8E4A-44C463944430}" dt="2026-01-23T19:56:34.446" v="3" actId="680"/>
        <pc:sldMkLst>
          <pc:docMk/>
          <pc:sldMk cId="3857126564" sldId="258"/>
        </pc:sldMkLst>
      </pc:sldChg>
      <pc:sldChg chg="new">
        <pc:chgData name="Vu Minh Ngoc" userId="f8a571d7-7cae-47a1-8b1d-77a0503bed65" providerId="ADAL" clId="{43740E79-0930-482C-8E4A-44C463944430}" dt="2026-01-23T19:56:34.654" v="4" actId="680"/>
        <pc:sldMkLst>
          <pc:docMk/>
          <pc:sldMk cId="3556616465" sldId="259"/>
        </pc:sldMkLst>
      </pc:sldChg>
      <pc:sldChg chg="new">
        <pc:chgData name="Vu Minh Ngoc" userId="f8a571d7-7cae-47a1-8b1d-77a0503bed65" providerId="ADAL" clId="{43740E79-0930-482C-8E4A-44C463944430}" dt="2026-01-23T19:56:34.802" v="5" actId="680"/>
        <pc:sldMkLst>
          <pc:docMk/>
          <pc:sldMk cId="1992251771" sldId="260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13A67CE-EF97-544F-B768-346902557B9A}" type="datetimeFigureOut">
              <a:rPr lang="en-FR" smtClean="0"/>
              <a:t>26/01/2026</a:t>
            </a:fld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4122C1E-E80F-A640-B315-198965FACDF5}" type="slidenum">
              <a:rPr lang="en-FR" smtClean="0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8888209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dirty="0">
                <a:latin typeface="Arial" panose="020B0604020202020204" pitchFamily="34" charset="0"/>
                <a:cs typeface="Arial" panose="020B0604020202020204" pitchFamily="34" charset="0"/>
              </a:rPr>
              <a:t>Contains bulk RNA-</a:t>
            </a:r>
            <a:r>
              <a:rPr lang="en-GB" sz="1200" dirty="0" err="1">
                <a:latin typeface="Arial" panose="020B0604020202020204" pitchFamily="34" charset="0"/>
                <a:cs typeface="Arial" panose="020B0604020202020204" pitchFamily="34" charset="0"/>
              </a:rPr>
              <a:t>seq</a:t>
            </a:r>
            <a:r>
              <a:rPr lang="en-GB" sz="1200" dirty="0">
                <a:latin typeface="Arial" panose="020B0604020202020204" pitchFamily="34" charset="0"/>
                <a:cs typeface="Arial" panose="020B0604020202020204" pitchFamily="34" charset="0"/>
              </a:rPr>
              <a:t> datasets from different brain regions at different stages </a:t>
            </a: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Vision? Establish a benchmark for future analyses, e.g. cerebellum organoids 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122C1E-E80F-A640-B315-198965FACDF5}" type="slidenum">
              <a:rPr lang="en-FR" smtClean="0"/>
              <a:t>1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42285479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200" dirty="0" err="1"/>
              <a:t>Metadata</a:t>
            </a:r>
            <a:r>
              <a:rPr lang="fr-FR" sz="1200" dirty="0"/>
              <a:t> </a:t>
            </a:r>
            <a:r>
              <a:rPr lang="fr-FR" sz="1200" dirty="0" err="1"/>
              <a:t>consistency</a:t>
            </a:r>
            <a:r>
              <a:rPr lang="fr-FR" sz="1200" dirty="0"/>
              <a:t> check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122C1E-E80F-A640-B315-198965FACDF5}" type="slidenum">
              <a:rPr lang="en-FR" smtClean="0"/>
              <a:t>2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222193025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200" dirty="0"/>
              <a:t>This </a:t>
            </a:r>
            <a:r>
              <a:rPr lang="fr-FR" sz="1200" dirty="0" err="1"/>
              <a:t>still</a:t>
            </a:r>
            <a:r>
              <a:rPr lang="fr-FR" sz="1200" dirty="0"/>
              <a:t> </a:t>
            </a:r>
            <a:r>
              <a:rPr lang="fr-FR" sz="1200" dirty="0" err="1"/>
              <a:t>contains</a:t>
            </a:r>
            <a:r>
              <a:rPr lang="fr-FR" sz="1200" dirty="0"/>
              <a:t> 15 </a:t>
            </a:r>
            <a:r>
              <a:rPr lang="fr-FR" sz="1200" dirty="0" err="1"/>
              <a:t>samples</a:t>
            </a:r>
            <a:r>
              <a:rPr lang="fr-FR" sz="1200" dirty="0"/>
              <a:t> </a:t>
            </a:r>
            <a:r>
              <a:rPr lang="fr-FR" sz="1200" dirty="0" err="1"/>
              <a:t>sequenced</a:t>
            </a:r>
            <a:r>
              <a:rPr lang="fr-FR" sz="1200" dirty="0"/>
              <a:t> in 2 </a:t>
            </a:r>
            <a:r>
              <a:rPr lang="fr-FR" sz="1200" dirty="0" err="1"/>
              <a:t>batches</a:t>
            </a:r>
            <a:endParaRPr lang="fr-FR" sz="1200" dirty="0"/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122C1E-E80F-A640-B315-198965FACDF5}" type="slidenum">
              <a:rPr lang="en-FR" smtClean="0"/>
              <a:t>3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37688982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D47BBA-654E-4D0A-30D3-D45B741DF7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8EBBCD2-0AB8-4D2E-7D4E-879B951F0C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EDDA22-AD6D-5846-CB87-9EA80FD347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2AE2CD-18EE-6374-D8A6-21F340F980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122C1E-E80F-A640-B315-198965FACDF5}" type="slidenum">
              <a:rPr lang="en-FR" smtClean="0"/>
              <a:t>5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417028942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5DF59C-F62D-92E6-2480-F5A4E3818D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024C1D-3DA1-AFC3-8F1A-9BAD336209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632D9E-1296-A0EA-9466-AB5BCFD528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18526C-0920-404B-AA75-512C336BB7DF}" type="datetimeFigureOut">
              <a:rPr lang="fr-FR" smtClean="0"/>
              <a:t>26/01/2026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56F89C-CAE8-0EC0-4E79-C2BC4018B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B85B54-8404-6A17-4EC6-92D084F78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98FFDC-340F-48A2-830F-5B27E06E2676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730419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AE5663-5930-DE2C-C45E-B8F0A45787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D743C3-618B-17D2-5E7D-38282ACEFC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204057-E49D-2AAE-8218-CDB05FC1F6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18526C-0920-404B-AA75-512C336BB7DF}" type="datetimeFigureOut">
              <a:rPr lang="fr-FR" smtClean="0"/>
              <a:t>26/01/2026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DCFCFB-8615-7DBA-41AF-1802A9DC18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F758DE-F350-BFBF-46C5-701DCE034B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98FFDC-340F-48A2-830F-5B27E06E2676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151170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B93E5-5846-6FFE-CBCD-6CBCC43E48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B0C97A-4315-C6A7-5408-00EB8F9429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DE8A24-EA7A-92DF-FEC0-7C92A59F03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18526C-0920-404B-AA75-512C336BB7DF}" type="datetimeFigureOut">
              <a:rPr lang="fr-FR" smtClean="0"/>
              <a:t>26/01/2026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8146A8-A564-2A4B-45E7-80DBDE71B0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DDD1B9-5B67-96F0-B233-2924D44D5E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98FFDC-340F-48A2-830F-5B27E06E2676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212950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9FE07C-34D3-0243-8BC0-A4164C8A39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72B984-90B8-24FC-150B-0FE7BB5D239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EC5068-AD6F-F547-69A8-BB8621137A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800941D-4162-3CA4-D008-AEA6D3E42B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18526C-0920-404B-AA75-512C336BB7DF}" type="datetimeFigureOut">
              <a:rPr lang="fr-FR" smtClean="0"/>
              <a:t>26/01/2026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61ABFF-3554-7650-F122-F1260BC395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A9F0ABC-0025-B02E-60D8-5553B2FE13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98FFDC-340F-48A2-830F-5B27E06E2676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434079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AA4B02-74B4-15D0-482E-769E4EE112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CE8942-1BF7-A8A0-0B8B-45E7611796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6BAAFAA-7B16-31CF-FEC4-90EB2EADDD8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EBED096-6F0B-78E3-BA5A-8D23EA386C9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0F9670B-6E4E-8598-1A2C-1401E2CB737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97D1E44-C192-4F62-2B02-B9F9505443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18526C-0920-404B-AA75-512C336BB7DF}" type="datetimeFigureOut">
              <a:rPr lang="fr-FR" smtClean="0"/>
              <a:t>26/01/2026</a:t>
            </a:fld>
            <a:endParaRPr lang="fr-F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FB61511-6486-5E71-6E6D-C67DC95BF7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5EF16FD-CFA1-BEEB-99D6-5F99AABA31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98FFDC-340F-48A2-830F-5B27E06E2676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790557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43ED55-FE7B-2E0E-C90B-DB84E07DFC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33D9EC-6B69-18C6-D833-D5E0CE8C7E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18526C-0920-404B-AA75-512C336BB7DF}" type="datetimeFigureOut">
              <a:rPr lang="fr-FR" smtClean="0"/>
              <a:t>26/01/2026</a:t>
            </a:fld>
            <a:endParaRPr lang="fr-F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2906CDA-4B32-348A-F753-502697EEBF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1E02471-7C6A-8446-2F02-C5B2DEF428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98FFDC-340F-48A2-830F-5B27E06E2676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895411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C4229D7-BE30-2E77-BBA4-F4F370D4B0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18526C-0920-404B-AA75-512C336BB7DF}" type="datetimeFigureOut">
              <a:rPr lang="fr-FR" smtClean="0"/>
              <a:t>26/01/2026</a:t>
            </a:fld>
            <a:endParaRPr lang="fr-F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51CD8E0-5B88-C200-833A-349CBE6B80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5A4741-5BF0-AC98-179E-5AEF0EDAF7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98FFDC-340F-48A2-830F-5B27E06E2676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839005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C004F4-95A8-92AE-5E1D-0DB4BD79C9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A4AD1A-804E-7825-2733-C23476E9CF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FC2DEDD-8660-9891-9DA0-081BE963A70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605399A-DD94-48F8-B7C1-172DC18BC5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18526C-0920-404B-AA75-512C336BB7DF}" type="datetimeFigureOut">
              <a:rPr lang="fr-FR" smtClean="0"/>
              <a:t>26/01/2026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138E42-0B64-3177-BDE9-7AE6DCB23A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E8FF324-521D-32A9-A1C8-D8028D8374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98FFDC-340F-48A2-830F-5B27E06E2676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642789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5DB119-D229-08EA-1408-75DE498862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781A494-6AA1-F74E-5B19-6F83C798AA8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5BBD7D-27A3-7A21-906B-5559E0E92C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7F5366A-B0C9-FA0B-05D7-C4D84F9DA4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18526C-0920-404B-AA75-512C336BB7DF}" type="datetimeFigureOut">
              <a:rPr lang="fr-FR" smtClean="0"/>
              <a:t>26/01/2026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EB0134-6DC7-7814-4BAD-B6BD230F7F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4CFD3B-2525-6BD6-6BED-99EC0C28A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98FFDC-340F-48A2-830F-5B27E06E2676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731747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ACD8D2-54C6-7247-DD60-0BA817F5EF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52F458D-C9DB-448A-2E42-9933541612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912F2E-650D-203F-996E-F76045ABE8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18526C-0920-404B-AA75-512C336BB7DF}" type="datetimeFigureOut">
              <a:rPr lang="fr-FR" smtClean="0"/>
              <a:t>26/01/2026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218535-AF97-A06B-EA82-902F37F778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BBAD94-3FCC-D046-8FFE-7AFC7824BC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98FFDC-340F-48A2-830F-5B27E06E2676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29416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577CAC4-4590-A890-2FD2-2EAB6A8B609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D89556-6D68-7803-E61A-26BCF95DCA6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1E6BE1-AE86-93DF-917E-76F75797F3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18526C-0920-404B-AA75-512C336BB7DF}" type="datetimeFigureOut">
              <a:rPr lang="fr-FR" smtClean="0"/>
              <a:t>26/01/2026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FA0F8F-AD5F-C7C9-158D-CECDEADC1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1B8ED3-FBE3-41AD-96D0-31869E9D6C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98FFDC-340F-48A2-830F-5B27E06E2676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18109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053B85B-F3A1-4378-79C9-B2EAE71290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0300CE-CFB5-0E32-33A8-066DBE7562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1B8F26-87B9-5B8C-1B33-42BCC76865D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C18526C-0920-404B-AA75-512C336BB7DF}" type="datetimeFigureOut">
              <a:rPr lang="fr-FR" smtClean="0"/>
              <a:t>26/01/2026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AA9072-D00B-44E2-559E-A5B7415B928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A7C946-1F3F-3DBA-5369-55C19A23AE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898FFDC-340F-48A2-830F-5B27E06E2676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688261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0BAAB2-F145-88FF-A933-99AE31DAC32C}"/>
              </a:ext>
            </a:extLst>
          </p:cNvPr>
          <p:cNvSpPr txBox="1"/>
          <p:nvPr/>
        </p:nvSpPr>
        <p:spPr>
          <a:xfrm>
            <a:off x="2326378" y="1001795"/>
            <a:ext cx="753924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4000" b="1" dirty="0">
                <a:solidFill>
                  <a:srgbClr val="C00000"/>
                </a:solidFill>
              </a:rPr>
              <a:t>Analyses of the HDBR </a:t>
            </a:r>
            <a:r>
              <a:rPr lang="fr-FR" sz="4000" b="1" dirty="0" err="1">
                <a:solidFill>
                  <a:srgbClr val="C00000"/>
                </a:solidFill>
              </a:rPr>
              <a:t>dataset</a:t>
            </a:r>
            <a:endParaRPr lang="fr-FR" sz="4000" b="1" dirty="0">
              <a:solidFill>
                <a:srgbClr val="C0000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DBFE7F-8A7E-4D8F-B9FC-F563B0B6BB10}"/>
              </a:ext>
            </a:extLst>
          </p:cNvPr>
          <p:cNvSpPr txBox="1"/>
          <p:nvPr/>
        </p:nvSpPr>
        <p:spPr>
          <a:xfrm>
            <a:off x="5362464" y="1887556"/>
            <a:ext cx="14670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2400" b="1" dirty="0"/>
              <a:t>Ngoc VU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C0742DE-B7EF-8578-12C8-0DC08F55824C}"/>
              </a:ext>
            </a:extLst>
          </p:cNvPr>
          <p:cNvSpPr txBox="1"/>
          <p:nvPr/>
        </p:nvSpPr>
        <p:spPr>
          <a:xfrm>
            <a:off x="5138846" y="2320098"/>
            <a:ext cx="191430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2400" b="1" dirty="0"/>
              <a:t>27 Jan 2026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65430E06-A441-C3EB-17CD-2F5611858B4A}"/>
              </a:ext>
            </a:extLst>
          </p:cNvPr>
          <p:cNvGrpSpPr/>
          <p:nvPr/>
        </p:nvGrpSpPr>
        <p:grpSpPr>
          <a:xfrm>
            <a:off x="2209798" y="3095920"/>
            <a:ext cx="7772400" cy="2760285"/>
            <a:chOff x="3124912" y="1780243"/>
            <a:chExt cx="7772400" cy="2760285"/>
          </a:xfrm>
        </p:grpSpPr>
        <p:pic>
          <p:nvPicPr>
            <p:cNvPr id="6" name="Picture 5" descr="A screenshot of a computer&#10;&#10;AI-generated content may be incorrect.">
              <a:extLst>
                <a:ext uri="{FF2B5EF4-FFF2-40B4-BE49-F238E27FC236}">
                  <a16:creationId xmlns:a16="http://schemas.microsoft.com/office/drawing/2014/main" id="{C0E0CF8D-89C8-E449-732F-AC3B936BBA2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83118"/>
            <a:stretch>
              <a:fillRect/>
            </a:stretch>
          </p:blipFill>
          <p:spPr>
            <a:xfrm>
              <a:off x="3124912" y="1780243"/>
              <a:ext cx="7772400" cy="65818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pic>
          <p:nvPicPr>
            <p:cNvPr id="7" name="Picture 6" descr="A screenshot of a computer&#10;&#10;AI-generated content may be incorrect.">
              <a:extLst>
                <a:ext uri="{FF2B5EF4-FFF2-40B4-BE49-F238E27FC236}">
                  <a16:creationId xmlns:a16="http://schemas.microsoft.com/office/drawing/2014/main" id="{34750B25-5D31-D717-65B8-5EAA8AA832F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44857"/>
            <a:stretch>
              <a:fillRect/>
            </a:stretch>
          </p:blipFill>
          <p:spPr>
            <a:xfrm>
              <a:off x="3124912" y="2390660"/>
              <a:ext cx="7772400" cy="2149868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</p:grpSp>
    </p:spTree>
    <p:extLst>
      <p:ext uri="{BB962C8B-B14F-4D97-AF65-F5344CB8AC3E}">
        <p14:creationId xmlns:p14="http://schemas.microsoft.com/office/powerpoint/2010/main" val="3495459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2FD1103-3D67-E88E-6CF3-AE54CBD35A8D}"/>
              </a:ext>
            </a:extLst>
          </p:cNvPr>
          <p:cNvSpPr txBox="1"/>
          <p:nvPr/>
        </p:nvSpPr>
        <p:spPr>
          <a:xfrm>
            <a:off x="430566" y="426763"/>
            <a:ext cx="32335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200" b="1" dirty="0" err="1"/>
              <a:t>Metadata</a:t>
            </a:r>
            <a:r>
              <a:rPr lang="fr-FR" sz="3200" b="1" dirty="0"/>
              <a:t> check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D820D06-F8A3-D250-A2D0-A74865EE0DB2}"/>
              </a:ext>
            </a:extLst>
          </p:cNvPr>
          <p:cNvSpPr txBox="1"/>
          <p:nvPr/>
        </p:nvSpPr>
        <p:spPr>
          <a:xfrm>
            <a:off x="430566" y="1358750"/>
            <a:ext cx="11027079" cy="15531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fr-FR" sz="2200" dirty="0" err="1"/>
              <a:t>Two</a:t>
            </a:r>
            <a:r>
              <a:rPr lang="fr-FR" sz="2200" dirty="0"/>
              <a:t> sources of </a:t>
            </a:r>
            <a:r>
              <a:rPr lang="fr-FR" sz="2200" dirty="0" err="1"/>
              <a:t>metadata</a:t>
            </a:r>
            <a:r>
              <a:rPr lang="fr-FR" sz="2200" dirty="0"/>
              <a:t>: HDBR </a:t>
            </a:r>
            <a:r>
              <a:rPr lang="fr-FR" sz="2200" dirty="0" err="1"/>
              <a:t>website</a:t>
            </a:r>
            <a:r>
              <a:rPr lang="fr-FR" sz="2200" dirty="0"/>
              <a:t> &amp; EBI</a:t>
            </a:r>
          </a:p>
          <a:p>
            <a:pPr>
              <a:lnSpc>
                <a:spcPct val="150000"/>
              </a:lnSpc>
            </a:pPr>
            <a:r>
              <a:rPr lang="fr-FR" sz="2200" dirty="0"/>
              <a:t>	- EBI </a:t>
            </a:r>
            <a:r>
              <a:rPr lang="fr-FR" sz="2200" dirty="0" err="1"/>
              <a:t>seems</a:t>
            </a:r>
            <a:r>
              <a:rPr lang="fr-FR" sz="2200" dirty="0"/>
              <a:t> to </a:t>
            </a:r>
            <a:r>
              <a:rPr lang="fr-FR" sz="2200" dirty="0" err="1"/>
              <a:t>be</a:t>
            </a:r>
            <a:r>
              <a:rPr lang="fr-FR" sz="2200" dirty="0"/>
              <a:t> more </a:t>
            </a:r>
            <a:r>
              <a:rPr lang="fr-FR" sz="2200" dirty="0" err="1"/>
              <a:t>updated</a:t>
            </a:r>
            <a:r>
              <a:rPr lang="fr-FR" sz="2200" dirty="0"/>
              <a:t>: 3 </a:t>
            </a:r>
            <a:r>
              <a:rPr lang="fr-FR" sz="2200" dirty="0" err="1"/>
              <a:t>individuals</a:t>
            </a:r>
            <a:r>
              <a:rPr lang="fr-FR" sz="2200" dirty="0"/>
              <a:t> more</a:t>
            </a:r>
          </a:p>
          <a:p>
            <a:pPr>
              <a:lnSpc>
                <a:spcPct val="150000"/>
              </a:lnSpc>
            </a:pPr>
            <a:r>
              <a:rPr lang="fr-FR" sz="2200" dirty="0"/>
              <a:t>	- 17 </a:t>
            </a:r>
            <a:r>
              <a:rPr lang="fr-FR" sz="2200" dirty="0" err="1"/>
              <a:t>samples</a:t>
            </a:r>
            <a:r>
              <a:rPr lang="fr-FR" sz="2200" dirty="0"/>
              <a:t> are </a:t>
            </a:r>
            <a:r>
              <a:rPr lang="fr-FR" sz="2200" dirty="0" err="1"/>
              <a:t>sequenced</a:t>
            </a:r>
            <a:r>
              <a:rPr lang="fr-FR" sz="2200" dirty="0"/>
              <a:t> in 2 </a:t>
            </a:r>
            <a:r>
              <a:rPr lang="fr-FR" sz="2200" dirty="0" err="1"/>
              <a:t>different</a:t>
            </a:r>
            <a:r>
              <a:rPr lang="fr-FR" sz="2200" dirty="0"/>
              <a:t> </a:t>
            </a:r>
            <a:r>
              <a:rPr lang="fr-FR" sz="2200" dirty="0" err="1"/>
              <a:t>batches</a:t>
            </a:r>
            <a:r>
              <a:rPr lang="fr-FR" sz="2200" dirty="0"/>
              <a:t> </a:t>
            </a:r>
            <a:r>
              <a:rPr lang="fr-FR" sz="2200" dirty="0">
                <a:sym typeface="Wingdings" pitchFamily="2" charset="2"/>
              </a:rPr>
              <a:t> 34 </a:t>
            </a:r>
            <a:r>
              <a:rPr lang="fr-FR" sz="2200" dirty="0" err="1">
                <a:sym typeface="Wingdings" pitchFamily="2" charset="2"/>
              </a:rPr>
              <a:t>samples</a:t>
            </a:r>
            <a:r>
              <a:rPr lang="fr-FR" sz="2200" dirty="0">
                <a:sym typeface="Wingdings" pitchFamily="2" charset="2"/>
              </a:rPr>
              <a:t>?</a:t>
            </a:r>
            <a:endParaRPr lang="fr-FR" sz="2200" dirty="0"/>
          </a:p>
        </p:txBody>
      </p:sp>
    </p:spTree>
    <p:extLst>
      <p:ext uri="{BB962C8B-B14F-4D97-AF65-F5344CB8AC3E}">
        <p14:creationId xmlns:p14="http://schemas.microsoft.com/office/powerpoint/2010/main" val="38571265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64672B5B-F9FE-58AB-C24F-A2537592B99F}"/>
              </a:ext>
            </a:extLst>
          </p:cNvPr>
          <p:cNvSpPr txBox="1"/>
          <p:nvPr/>
        </p:nvSpPr>
        <p:spPr>
          <a:xfrm>
            <a:off x="430566" y="3524214"/>
            <a:ext cx="11410496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200" dirty="0" err="1"/>
              <a:t>Developmental</a:t>
            </a:r>
            <a:r>
              <a:rPr lang="fr-FR" sz="2200" dirty="0"/>
              <a:t> stage and tissue distribution of </a:t>
            </a:r>
            <a:r>
              <a:rPr lang="fr-FR" sz="2200" dirty="0" err="1"/>
              <a:t>brain</a:t>
            </a:r>
            <a:r>
              <a:rPr lang="fr-FR" sz="2200" dirty="0"/>
              <a:t> </a:t>
            </a:r>
            <a:r>
              <a:rPr lang="fr-FR" sz="2200" dirty="0" err="1"/>
              <a:t>samples</a:t>
            </a:r>
            <a:r>
              <a:rPr lang="fr-FR" sz="2200" dirty="0"/>
              <a:t> </a:t>
            </a:r>
            <a:r>
              <a:rPr lang="fr-FR" sz="2200" dirty="0" err="1"/>
              <a:t>after</a:t>
            </a:r>
            <a:r>
              <a:rPr lang="fr-FR" sz="2200" dirty="0"/>
              <a:t> </a:t>
            </a:r>
            <a:r>
              <a:rPr lang="fr-FR" sz="2200" dirty="0" err="1"/>
              <a:t>filtering</a:t>
            </a:r>
            <a:r>
              <a:rPr lang="fr-FR" sz="2200" dirty="0"/>
              <a:t> (84 </a:t>
            </a:r>
            <a:r>
              <a:rPr lang="fr-FR" sz="2200" dirty="0" err="1"/>
              <a:t>individuals</a:t>
            </a:r>
            <a:r>
              <a:rPr lang="fr-FR" sz="2200" dirty="0"/>
              <a:t>)</a:t>
            </a:r>
          </a:p>
        </p:txBody>
      </p:sp>
      <p:pic>
        <p:nvPicPr>
          <p:cNvPr id="9" name="Picture 8" descr="A number in a square&#10;&#10;AI-generated content may be incorrect.">
            <a:extLst>
              <a:ext uri="{FF2B5EF4-FFF2-40B4-BE49-F238E27FC236}">
                <a16:creationId xmlns:a16="http://schemas.microsoft.com/office/drawing/2014/main" id="{99512C3A-DAD1-9D67-B7EE-CAFA2091805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566" y="3955101"/>
            <a:ext cx="11582928" cy="183618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B19111A-EF0B-B964-2B76-5C2989C82018}"/>
              </a:ext>
            </a:extLst>
          </p:cNvPr>
          <p:cNvSpPr txBox="1"/>
          <p:nvPr/>
        </p:nvSpPr>
        <p:spPr>
          <a:xfrm>
            <a:off x="430566" y="1346558"/>
            <a:ext cx="11027079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200" dirty="0" err="1"/>
              <a:t>Filtering</a:t>
            </a:r>
            <a:r>
              <a:rPr lang="fr-FR" sz="2200" dirty="0"/>
              <a:t> </a:t>
            </a:r>
            <a:r>
              <a:rPr lang="fr-FR" sz="2200" dirty="0" err="1"/>
              <a:t>criteria</a:t>
            </a:r>
            <a:r>
              <a:rPr lang="fr-FR" sz="2200" dirty="0"/>
              <a:t>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fr-FR" sz="2200" dirty="0" err="1"/>
              <a:t>brain</a:t>
            </a:r>
            <a:r>
              <a:rPr lang="fr-FR" sz="2200" dirty="0"/>
              <a:t> fragments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fr-FR" sz="2200" dirty="0"/>
              <a:t>mixed </a:t>
            </a:r>
            <a:r>
              <a:rPr lang="fr-FR" sz="2200" dirty="0" err="1"/>
              <a:t>samples</a:t>
            </a:r>
            <a:r>
              <a:rPr lang="fr-FR" sz="2200" dirty="0"/>
              <a:t> (</a:t>
            </a:r>
            <a:r>
              <a:rPr lang="fr-FR" sz="2200" dirty="0" err="1"/>
              <a:t>diencephalon</a:t>
            </a:r>
            <a:r>
              <a:rPr lang="fr-FR" sz="2200" dirty="0"/>
              <a:t> and </a:t>
            </a:r>
            <a:r>
              <a:rPr lang="fr-FR" sz="2200" dirty="0" err="1"/>
              <a:t>midbrain</a:t>
            </a:r>
            <a:r>
              <a:rPr lang="fr-FR" sz="2200" dirty="0"/>
              <a:t>, </a:t>
            </a:r>
            <a:r>
              <a:rPr lang="fr-FR" sz="2200" dirty="0" err="1"/>
              <a:t>diencephalon</a:t>
            </a:r>
            <a:r>
              <a:rPr lang="fr-FR" sz="2200" dirty="0"/>
              <a:t> and </a:t>
            </a:r>
            <a:r>
              <a:rPr lang="fr-FR" sz="2200" dirty="0" err="1"/>
              <a:t>pituitary</a:t>
            </a:r>
            <a:r>
              <a:rPr lang="fr-FR" sz="2200" dirty="0"/>
              <a:t>, </a:t>
            </a:r>
            <a:r>
              <a:rPr lang="fr-FR" sz="2200" dirty="0" err="1"/>
              <a:t>forebrain</a:t>
            </a:r>
            <a:r>
              <a:rPr lang="fr-FR" sz="2200" dirty="0"/>
              <a:t> and </a:t>
            </a:r>
            <a:r>
              <a:rPr lang="fr-FR" sz="2200" dirty="0" err="1"/>
              <a:t>midbrain</a:t>
            </a:r>
            <a:r>
              <a:rPr lang="fr-FR" sz="2200" dirty="0"/>
              <a:t>, </a:t>
            </a:r>
            <a:r>
              <a:rPr lang="fr-FR" sz="2200" dirty="0" err="1"/>
              <a:t>whole</a:t>
            </a:r>
            <a:r>
              <a:rPr lang="fr-FR" sz="2200" dirty="0"/>
              <a:t> </a:t>
            </a:r>
            <a:r>
              <a:rPr lang="fr-FR" sz="2200" dirty="0" err="1"/>
              <a:t>hindbrain</a:t>
            </a:r>
            <a:r>
              <a:rPr lang="fr-FR" sz="2200" dirty="0"/>
              <a:t> </a:t>
            </a:r>
            <a:r>
              <a:rPr lang="fr-FR" sz="2200" dirty="0" err="1"/>
              <a:t>without</a:t>
            </a:r>
            <a:r>
              <a:rPr lang="fr-FR" sz="2200" dirty="0"/>
              <a:t> </a:t>
            </a:r>
            <a:r>
              <a:rPr lang="fr-FR" sz="2200" dirty="0" err="1"/>
              <a:t>cerebellum</a:t>
            </a:r>
            <a:r>
              <a:rPr lang="fr-FR" sz="2200" dirty="0"/>
              <a:t>)</a:t>
            </a:r>
          </a:p>
        </p:txBody>
      </p:sp>
      <p:sp>
        <p:nvSpPr>
          <p:cNvPr id="16" name="Down Arrow 15">
            <a:extLst>
              <a:ext uri="{FF2B5EF4-FFF2-40B4-BE49-F238E27FC236}">
                <a16:creationId xmlns:a16="http://schemas.microsoft.com/office/drawing/2014/main" id="{7FF1184B-0A58-F1E2-E611-5A7DF6526CD2}"/>
              </a:ext>
            </a:extLst>
          </p:cNvPr>
          <p:cNvSpPr/>
          <p:nvPr/>
        </p:nvSpPr>
        <p:spPr>
          <a:xfrm>
            <a:off x="1630740" y="2983813"/>
            <a:ext cx="279084" cy="349696"/>
          </a:xfrm>
          <a:prstGeom prst="downArrow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20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D1269A0-1F0A-CDDA-4479-F1C6EAEBCFDD}"/>
              </a:ext>
            </a:extLst>
          </p:cNvPr>
          <p:cNvSpPr txBox="1"/>
          <p:nvPr/>
        </p:nvSpPr>
        <p:spPr>
          <a:xfrm>
            <a:off x="430566" y="426763"/>
            <a:ext cx="35317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200" b="1" dirty="0" err="1"/>
              <a:t>Sample</a:t>
            </a:r>
            <a:r>
              <a:rPr lang="fr-FR" sz="3200" b="1" dirty="0"/>
              <a:t> </a:t>
            </a:r>
            <a:r>
              <a:rPr lang="fr-FR" sz="3200" b="1" dirty="0" err="1"/>
              <a:t>selection</a:t>
            </a:r>
            <a:endParaRPr lang="fr-FR" sz="3200" b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10201C2-C4CA-7F9A-9880-C32A1126F563}"/>
              </a:ext>
            </a:extLst>
          </p:cNvPr>
          <p:cNvSpPr txBox="1"/>
          <p:nvPr/>
        </p:nvSpPr>
        <p:spPr>
          <a:xfrm>
            <a:off x="6096000" y="6488668"/>
            <a:ext cx="60998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buNone/>
            </a:pPr>
            <a:r>
              <a:rPr lang="en-GB" i="1" dirty="0">
                <a:solidFill>
                  <a:srgbClr val="141413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*samples where the precise region is unknown</a:t>
            </a:r>
          </a:p>
        </p:txBody>
      </p:sp>
    </p:spTree>
    <p:extLst>
      <p:ext uri="{BB962C8B-B14F-4D97-AF65-F5344CB8AC3E}">
        <p14:creationId xmlns:p14="http://schemas.microsoft.com/office/powerpoint/2010/main" val="4143498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E7A3CD96-6765-2668-A5F1-B750ED802C9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9475"/>
          <a:stretch>
            <a:fillRect/>
          </a:stretch>
        </p:blipFill>
        <p:spPr>
          <a:xfrm>
            <a:off x="8768433" y="1862937"/>
            <a:ext cx="3190321" cy="313443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F24E445-2B32-72CF-451A-3D98D72165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7483" y="1862937"/>
            <a:ext cx="3800950" cy="313443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AC1D124-740D-8763-8A52-D9A895B0B8E3}"/>
              </a:ext>
            </a:extLst>
          </p:cNvPr>
          <p:cNvSpPr txBox="1"/>
          <p:nvPr/>
        </p:nvSpPr>
        <p:spPr>
          <a:xfrm>
            <a:off x="430566" y="426763"/>
            <a:ext cx="35317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200" b="1" dirty="0" err="1"/>
              <a:t>Sample</a:t>
            </a:r>
            <a:r>
              <a:rPr lang="fr-FR" sz="3200" b="1" dirty="0"/>
              <a:t> </a:t>
            </a:r>
            <a:r>
              <a:rPr lang="fr-FR" sz="3200" b="1" dirty="0" err="1"/>
              <a:t>selection</a:t>
            </a:r>
            <a:endParaRPr lang="fr-FR" sz="32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2F798F2-FA45-8797-C5A6-7732C5078D8D}"/>
              </a:ext>
            </a:extLst>
          </p:cNvPr>
          <p:cNvSpPr txBox="1"/>
          <p:nvPr/>
        </p:nvSpPr>
        <p:spPr>
          <a:xfrm>
            <a:off x="430566" y="1862937"/>
            <a:ext cx="4178010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2000" dirty="0"/>
              <a:t>84 </a:t>
            </a:r>
            <a:r>
              <a:rPr lang="fr-FR" sz="2000" dirty="0" err="1"/>
              <a:t>individuals</a:t>
            </a:r>
            <a:r>
              <a:rPr lang="fr-FR" sz="2000" dirty="0"/>
              <a:t> (65 </a:t>
            </a:r>
            <a:r>
              <a:rPr lang="fr-FR" sz="2000" dirty="0" err="1"/>
              <a:t>contributed</a:t>
            </a:r>
            <a:r>
              <a:rPr lang="fr-FR" sz="2000" dirty="0"/>
              <a:t> more </a:t>
            </a:r>
            <a:r>
              <a:rPr lang="fr-FR" sz="2000" dirty="0" err="1"/>
              <a:t>than</a:t>
            </a:r>
            <a:r>
              <a:rPr lang="fr-FR" sz="2000" dirty="0"/>
              <a:t> 1 </a:t>
            </a:r>
            <a:r>
              <a:rPr lang="fr-FR" sz="2000" dirty="0" err="1"/>
              <a:t>sample</a:t>
            </a:r>
            <a:r>
              <a:rPr lang="fr-FR" sz="2000" dirty="0"/>
              <a:t>, </a:t>
            </a:r>
            <a:r>
              <a:rPr lang="en-GB" sz="2000" dirty="0"/>
              <a:t>most commonly from the cerebral cortex)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20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sz="2000" dirty="0"/>
          </a:p>
        </p:txBody>
      </p:sp>
    </p:spTree>
    <p:extLst>
      <p:ext uri="{BB962C8B-B14F-4D97-AF65-F5344CB8AC3E}">
        <p14:creationId xmlns:p14="http://schemas.microsoft.com/office/powerpoint/2010/main" val="19922517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3E6BDA-E028-935E-B2D5-2EE679965A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C3D997A1-2254-20D2-CE99-60B2E1E56D33}"/>
              </a:ext>
            </a:extLst>
          </p:cNvPr>
          <p:cNvSpPr txBox="1"/>
          <p:nvPr/>
        </p:nvSpPr>
        <p:spPr>
          <a:xfrm>
            <a:off x="430566" y="1223790"/>
            <a:ext cx="5170005" cy="334784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fr-FR" sz="2400" dirty="0" err="1"/>
              <a:t>Metadata</a:t>
            </a:r>
            <a:r>
              <a:rPr lang="fr-FR" sz="2400" dirty="0"/>
              <a:t> check, </a:t>
            </a:r>
            <a:r>
              <a:rPr lang="fr-FR" sz="2400" dirty="0" err="1"/>
              <a:t>sample</a:t>
            </a:r>
            <a:r>
              <a:rPr lang="fr-FR" sz="2400" dirty="0"/>
              <a:t> </a:t>
            </a:r>
            <a:r>
              <a:rPr lang="fr-FR" sz="2400" dirty="0" err="1"/>
              <a:t>selection</a:t>
            </a:r>
            <a:endParaRPr lang="fr-FR" sz="2400" dirty="0"/>
          </a:p>
          <a:p>
            <a:pPr lvl="1">
              <a:lnSpc>
                <a:spcPct val="150000"/>
              </a:lnSpc>
            </a:pPr>
            <a:r>
              <a:rPr lang="fr-FR" sz="2400" dirty="0">
                <a:solidFill>
                  <a:schemeClr val="bg2">
                    <a:lumMod val="50000"/>
                  </a:schemeClr>
                </a:solidFill>
              </a:rPr>
              <a:t>- Check </a:t>
            </a:r>
            <a:r>
              <a:rPr lang="fr-FR" sz="2400" dirty="0" err="1">
                <a:solidFill>
                  <a:schemeClr val="bg2">
                    <a:lumMod val="50000"/>
                  </a:schemeClr>
                </a:solidFill>
              </a:rPr>
              <a:t>duplicated</a:t>
            </a:r>
            <a:r>
              <a:rPr lang="fr-FR" sz="2400" dirty="0">
                <a:solidFill>
                  <a:schemeClr val="bg2">
                    <a:lumMod val="50000"/>
                  </a:schemeClr>
                </a:solidFill>
              </a:rPr>
              <a:t> </a:t>
            </a:r>
            <a:r>
              <a:rPr lang="fr-FR" sz="2400" dirty="0" err="1">
                <a:solidFill>
                  <a:schemeClr val="bg2">
                    <a:lumMod val="50000"/>
                  </a:schemeClr>
                </a:solidFill>
              </a:rPr>
              <a:t>batches</a:t>
            </a:r>
            <a:r>
              <a:rPr lang="fr-FR" sz="2400" dirty="0">
                <a:solidFill>
                  <a:schemeClr val="bg2">
                    <a:lumMod val="50000"/>
                  </a:schemeClr>
                </a:solidFill>
              </a:rPr>
              <a:t>?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fr-FR" sz="2400" dirty="0" err="1">
                <a:solidFill>
                  <a:schemeClr val="bg2">
                    <a:lumMod val="50000"/>
                  </a:schemeClr>
                </a:solidFill>
              </a:rPr>
              <a:t>Quality</a:t>
            </a:r>
            <a:r>
              <a:rPr lang="fr-FR" sz="2400" dirty="0">
                <a:solidFill>
                  <a:schemeClr val="bg2">
                    <a:lumMod val="50000"/>
                  </a:schemeClr>
                </a:solidFill>
              </a:rPr>
              <a:t> control</a:t>
            </a:r>
          </a:p>
          <a:p>
            <a:pPr lvl="1">
              <a:lnSpc>
                <a:spcPct val="150000"/>
              </a:lnSpc>
            </a:pPr>
            <a:r>
              <a:rPr lang="fr-FR" sz="2400" dirty="0">
                <a:solidFill>
                  <a:schemeClr val="bg2">
                    <a:lumMod val="50000"/>
                  </a:schemeClr>
                </a:solidFill>
              </a:rPr>
              <a:t>- PCA</a:t>
            </a:r>
          </a:p>
          <a:p>
            <a:pPr lvl="1">
              <a:lnSpc>
                <a:spcPct val="150000"/>
              </a:lnSpc>
            </a:pPr>
            <a:r>
              <a:rPr lang="fr-FR" sz="2400" dirty="0">
                <a:solidFill>
                  <a:schemeClr val="bg1">
                    <a:lumMod val="75000"/>
                  </a:schemeClr>
                </a:solidFill>
              </a:rPr>
              <a:t>- </a:t>
            </a:r>
            <a:r>
              <a:rPr lang="fr-FR" sz="2400" dirty="0" err="1">
                <a:solidFill>
                  <a:schemeClr val="bg1">
                    <a:lumMod val="75000"/>
                  </a:schemeClr>
                </a:solidFill>
              </a:rPr>
              <a:t>Deconvolution</a:t>
            </a:r>
            <a:endParaRPr lang="fr-FR" sz="2400" dirty="0">
              <a:solidFill>
                <a:schemeClr val="bg1">
                  <a:lumMod val="75000"/>
                </a:schemeClr>
              </a:solidFill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fr-FR" sz="2400" dirty="0">
                <a:solidFill>
                  <a:schemeClr val="bg1">
                    <a:lumMod val="75000"/>
                  </a:schemeClr>
                </a:solidFill>
              </a:rPr>
              <a:t>DGE </a:t>
            </a:r>
            <a:r>
              <a:rPr lang="fr-FR" sz="2400" dirty="0" err="1">
                <a:solidFill>
                  <a:schemeClr val="bg1">
                    <a:lumMod val="75000"/>
                  </a:schemeClr>
                </a:solidFill>
              </a:rPr>
              <a:t>analysis</a:t>
            </a:r>
            <a:endParaRPr lang="fr-FR" sz="24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2DB93DA-9D9C-4382-EA58-6576EC39517F}"/>
              </a:ext>
            </a:extLst>
          </p:cNvPr>
          <p:cNvSpPr txBox="1"/>
          <p:nvPr/>
        </p:nvSpPr>
        <p:spPr>
          <a:xfrm>
            <a:off x="430566" y="426763"/>
            <a:ext cx="225574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200" b="1" dirty="0"/>
              <a:t>Next </a:t>
            </a:r>
            <a:r>
              <a:rPr lang="fr-FR" sz="3200" b="1" dirty="0" err="1"/>
              <a:t>steps</a:t>
            </a:r>
            <a:endParaRPr lang="fr-FR" sz="3200" b="1" dirty="0"/>
          </a:p>
        </p:txBody>
      </p:sp>
    </p:spTree>
    <p:extLst>
      <p:ext uri="{BB962C8B-B14F-4D97-AF65-F5344CB8AC3E}">
        <p14:creationId xmlns:p14="http://schemas.microsoft.com/office/powerpoint/2010/main" val="18630068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table with numbers and numbers&#10;&#10;AI-generated content may be incorrect.">
            <a:extLst>
              <a:ext uri="{FF2B5EF4-FFF2-40B4-BE49-F238E27FC236}">
                <a16:creationId xmlns:a16="http://schemas.microsoft.com/office/drawing/2014/main" id="{7B05539C-CB24-0988-7314-35C0396D1B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49" y="1053348"/>
            <a:ext cx="12178851" cy="47513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80124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Blue Warm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339</TotalTime>
  <Words>177</Words>
  <Application>Microsoft Macintosh PowerPoint</Application>
  <PresentationFormat>Widescreen</PresentationFormat>
  <Paragraphs>31</Paragraphs>
  <Slides>6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Arial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Vu Minh Ngoc</dc:creator>
  <cp:lastModifiedBy>Ngoc Vu</cp:lastModifiedBy>
  <cp:revision>117</cp:revision>
  <dcterms:created xsi:type="dcterms:W3CDTF">2026-01-23T19:55:02Z</dcterms:created>
  <dcterms:modified xsi:type="dcterms:W3CDTF">2026-01-27T00:42:59Z</dcterms:modified>
</cp:coreProperties>
</file>